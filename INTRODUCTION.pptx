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65" r:id="rId23"/>
    <p:sldId id="266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69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53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43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74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001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71270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2762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7505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82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005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8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47364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773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693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3854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3488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77749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73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8546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3638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45122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57579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4010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791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729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026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6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2A23AA50-93EA-46AF-9114-D6A1089CC00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A74B74AD-E6DE-4C9F-A6D5-1424D26F500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496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  <p:sldLayoutId id="2147483860" r:id="rId12"/>
    <p:sldLayoutId id="2147483861" r:id="rId13"/>
    <p:sldLayoutId id="2147483862" r:id="rId14"/>
    <p:sldLayoutId id="2147483863" r:id="rId15"/>
    <p:sldLayoutId id="2147483864" r:id="rId16"/>
    <p:sldLayoutId id="2147483865" r:id="rId17"/>
    <p:sldLayoutId id="2147483866" r:id="rId18"/>
    <p:sldLayoutId id="2147483867" r:id="rId19"/>
    <p:sldLayoutId id="2147483868" r:id="rId20"/>
    <p:sldLayoutId id="2147483869" r:id="rId21"/>
    <p:sldLayoutId id="2147483870" r:id="rId22"/>
    <p:sldLayoutId id="2147483871" r:id="rId23"/>
    <p:sldLayoutId id="2147483872" r:id="rId24"/>
    <p:sldLayoutId id="2147483873" r:id="rId25"/>
    <p:sldLayoutId id="2147483874" r:id="rId26"/>
    <p:sldLayoutId id="2147483875" r:id="rId27"/>
    <p:sldLayoutId id="2147483876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A2F3-DB4F-11D7-5B22-2F57AD6A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E924A-CEDF-F209-C47B-97BD07844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6245" y="6253315"/>
            <a:ext cx="3647768" cy="452285"/>
          </a:xfrm>
        </p:spPr>
        <p:txBody>
          <a:bodyPr/>
          <a:lstStyle/>
          <a:p>
            <a:r>
              <a:rPr lang="en-US" dirty="0"/>
              <a:t>Mr. Rohit Kumar</a:t>
            </a:r>
          </a:p>
        </p:txBody>
      </p:sp>
    </p:spTree>
    <p:extLst>
      <p:ext uri="{BB962C8B-B14F-4D97-AF65-F5344CB8AC3E}">
        <p14:creationId xmlns:p14="http://schemas.microsoft.com/office/powerpoint/2010/main" val="400404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7262-32C8-629C-9E7F-F56C77882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Introduction to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FE7E5-1BA7-A0B4-4CFF-9D7988074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2037451"/>
            <a:ext cx="11604046" cy="4234643"/>
          </a:xfrm>
        </p:spPr>
        <p:txBody>
          <a:bodyPr/>
          <a:lstStyle/>
          <a:p>
            <a:r>
              <a:rPr lang="en-US" sz="2400" b="1" dirty="0"/>
              <a:t>1. What is a Computer?</a:t>
            </a:r>
          </a:p>
          <a:p>
            <a:r>
              <a:rPr lang="en-US" dirty="0"/>
              <a:t>A </a:t>
            </a:r>
            <a:r>
              <a:rPr lang="en-US" b="1" dirty="0"/>
              <a:t>computer is an electronic programmable device</a:t>
            </a:r>
            <a:r>
              <a:rPr lang="en-US" dirty="0"/>
              <a:t> that accepts data as </a:t>
            </a:r>
            <a:r>
              <a:rPr lang="en-US" b="1" dirty="0"/>
              <a:t>input</a:t>
            </a:r>
            <a:r>
              <a:rPr lang="en-US" dirty="0"/>
              <a:t>, </a:t>
            </a:r>
          </a:p>
          <a:p>
            <a:r>
              <a:rPr lang="en-US" dirty="0"/>
              <a:t>processes it according to instructions, stores data when required, and </a:t>
            </a:r>
          </a:p>
          <a:p>
            <a:r>
              <a:rPr lang="en-US" dirty="0"/>
              <a:t>produces useful </a:t>
            </a:r>
            <a:r>
              <a:rPr lang="en-US" b="1" dirty="0"/>
              <a:t>output.</a:t>
            </a:r>
            <a:endParaRPr lang="en-US" dirty="0"/>
          </a:p>
          <a:p>
            <a:endParaRPr lang="en-US" dirty="0"/>
          </a:p>
          <a:p>
            <a:r>
              <a:rPr lang="en-US" sz="2000" b="1" dirty="0"/>
              <a:t>Computer = Input → Processing → Output → Storage</a:t>
            </a:r>
          </a:p>
        </p:txBody>
      </p:sp>
      <p:pic>
        <p:nvPicPr>
          <p:cNvPr id="4" name="Picture 3" descr="https://images.openai.com/static-rsc-4/neY_iwYyph8-Bju2BGDRjD7AwhIMFR_2UAogCayV221vzSoGspy40x4slKVlSk3tM3m2fazKFaMXMes-GIfT8R5FXm8sDxYcWYz70DFuiuokds4ujHHtnnzsOnJaQmP4l3_ixqxcmXapfyT1zz9dSjxd7gg9_oyx9Jb97utx422x2NLQ1iWYf6IsYuvXT9m6?purpose=fullsize">
            <a:extLst>
              <a:ext uri="{FF2B5EF4-FFF2-40B4-BE49-F238E27FC236}">
                <a16:creationId xmlns:a16="http://schemas.microsoft.com/office/drawing/2014/main" id="{1935F4E2-91AD-DA2E-0E9C-94108CEAB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471" y="2615382"/>
            <a:ext cx="5683045" cy="405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12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ttps://images.openai.com/static-rsc-4/FtWJI0wH_kBMShqElMzuP8sKkjL8ri9lbhcRUJS6o7Xc4s93N-7KPsnGuZzGqMSLSozuywa2ju37z6I5Wjs-1YAsvuucXSQHrTT3p5xAdTiKOHI0pQ51mWRX3VIXKsj0fsDV-meJYmvXBGG-5U-aj4QrJTIYjVhhdUOkUvg2zOD7JR0yYhLEephr9xq-3YXk?purpose=fullsize">
            <a:extLst>
              <a:ext uri="{FF2B5EF4-FFF2-40B4-BE49-F238E27FC236}">
                <a16:creationId xmlns:a16="http://schemas.microsoft.com/office/drawing/2014/main" id="{8830487D-0927-6436-CFAB-EA1D7F96E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932" y="1419687"/>
            <a:ext cx="5922068" cy="5147188"/>
          </a:xfrm>
          <a:prstGeom prst="rect">
            <a:avLst/>
          </a:prstGeom>
        </p:spPr>
      </p:pic>
      <p:pic>
        <p:nvPicPr>
          <p:cNvPr id="5" name="Picture 4" descr="Hardware vs Software by EduResources Hub | TPT">
            <a:extLst>
              <a:ext uri="{FF2B5EF4-FFF2-40B4-BE49-F238E27FC236}">
                <a16:creationId xmlns:a16="http://schemas.microsoft.com/office/drawing/2014/main" id="{3726ECB7-2941-D541-5E44-95B7E9E1B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135" y="1419687"/>
            <a:ext cx="5509113" cy="514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93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Operating System Software That Manages Computer Hardware And Software – Softwareg.com.au">
            <a:extLst>
              <a:ext uri="{FF2B5EF4-FFF2-40B4-BE49-F238E27FC236}">
                <a16:creationId xmlns:a16="http://schemas.microsoft.com/office/drawing/2014/main" id="{88A8B742-3DE1-9EE3-1135-D1A58538A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5406" y="1052052"/>
            <a:ext cx="10392697" cy="557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65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DD27-21EB-FBB5-3E25-EF036F227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Input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413CF-38AE-272F-2D80-77A32DC96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Input devices</a:t>
            </a:r>
            <a:r>
              <a:rPr lang="en-US" sz="2400" dirty="0"/>
              <a:t> are used to enter data and instructions into the computer.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500481D-2ABF-D9C3-25EC-6A08F28334F3}"/>
              </a:ext>
            </a:extLst>
          </p:cNvPr>
          <p:cNvGraphicFramePr>
            <a:graphicFrameLocks noGrp="1"/>
          </p:cNvGraphicFramePr>
          <p:nvPr/>
        </p:nvGraphicFramePr>
        <p:xfrm>
          <a:off x="301625" y="2884646"/>
          <a:ext cx="11604624" cy="256032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3117340419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39825684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0879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Keyboard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Enter text, numbers and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1476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Point, click and select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651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Scanner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Convert physical documents/images into digital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6299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Microphone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Input sound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6249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Webcam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Input images/video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6173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Touchscreen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Accept touch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694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05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BA471-5673-EA8D-8DE8-AC46CADA8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CPU – Central Processing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C09E4-6C39-0899-BD8D-DC0A0C118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300" dirty="0"/>
              <a:t>The </a:t>
            </a:r>
            <a:r>
              <a:rPr lang="en-US" sz="2300" b="1" dirty="0"/>
              <a:t>CPU</a:t>
            </a:r>
            <a:r>
              <a:rPr lang="en-US" sz="2300" dirty="0"/>
              <a:t> is the main processing unit of a computer. It executes instructions and performs calculations and logical operations.</a:t>
            </a:r>
          </a:p>
          <a:p>
            <a:r>
              <a:rPr lang="en-US" sz="2300" dirty="0"/>
              <a:t>                                   CPU</a:t>
            </a:r>
          </a:p>
          <a:p>
            <a:r>
              <a:rPr lang="en-US" sz="2300" dirty="0"/>
              <a:t>                                    │</a:t>
            </a:r>
          </a:p>
          <a:p>
            <a:r>
              <a:rPr lang="en-US" sz="2300" dirty="0"/>
              <a:t>      ┌───────┼────────┐</a:t>
            </a:r>
          </a:p>
          <a:p>
            <a:r>
              <a:rPr lang="en-US" sz="2300" dirty="0"/>
              <a:t>      ↓                             ↓                                 ↓</a:t>
            </a:r>
          </a:p>
          <a:p>
            <a:r>
              <a:rPr lang="en-US" sz="2300" dirty="0"/>
              <a:t>     ALU                       CU                       Registers</a:t>
            </a:r>
          </a:p>
          <a:p>
            <a:r>
              <a:rPr lang="en-US" sz="2300" dirty="0"/>
              <a:t>      │                          │                            │</a:t>
            </a:r>
          </a:p>
          <a:p>
            <a:r>
              <a:rPr lang="en-US" sz="2300" dirty="0"/>
              <a:t> Arithmetic                  Control               Temporary</a:t>
            </a:r>
          </a:p>
          <a:p>
            <a:r>
              <a:rPr lang="en-US" sz="2300" dirty="0"/>
              <a:t> &amp; Logical                    Unit                      Data</a:t>
            </a:r>
          </a:p>
          <a:p>
            <a:r>
              <a:rPr lang="en-US" sz="2300" dirty="0"/>
              <a:t> Operations</a:t>
            </a:r>
          </a:p>
        </p:txBody>
      </p:sp>
    </p:spTree>
    <p:extLst>
      <p:ext uri="{BB962C8B-B14F-4D97-AF65-F5344CB8AC3E}">
        <p14:creationId xmlns:p14="http://schemas.microsoft.com/office/powerpoint/2010/main" val="3956986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46E27-E9BC-2B89-4C57-62314BEA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EBA4E-DE7F-FB4A-E34E-9D78F843E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300" dirty="0"/>
              <a:t>Memory holds programs and data that the computer needs during operation.</a:t>
            </a:r>
          </a:p>
          <a:p>
            <a:endParaRPr lang="en-US" sz="2300" dirty="0"/>
          </a:p>
          <a:p>
            <a:r>
              <a:rPr lang="en-US" sz="2400" b="1" dirty="0"/>
              <a:t>RAM – Random Access Memory</a:t>
            </a:r>
          </a:p>
          <a:p>
            <a:r>
              <a:rPr lang="en-US" sz="2400" dirty="0"/>
              <a:t>RAM is </a:t>
            </a:r>
            <a:r>
              <a:rPr lang="en-US" sz="2400" b="1" dirty="0"/>
              <a:t>temporary/volatile memory</a:t>
            </a:r>
            <a:r>
              <a:rPr lang="en-US" sz="2400" dirty="0"/>
              <a:t>.</a:t>
            </a:r>
          </a:p>
          <a:p>
            <a:endParaRPr lang="en-US" sz="2300" dirty="0"/>
          </a:p>
          <a:p>
            <a:r>
              <a:rPr lang="en-US" sz="2400" b="1" dirty="0"/>
              <a:t>ROM – Read Only Memory</a:t>
            </a:r>
          </a:p>
          <a:p>
            <a:r>
              <a:rPr lang="en-US" sz="2400" dirty="0"/>
              <a:t>ROM stores information that generally remains available even when power is removed.</a:t>
            </a:r>
          </a:p>
          <a:p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790371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995D-EB6B-4F9A-5C23-37A73ABB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C76E3-3B13-1964-C957-802E25F30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300" dirty="0"/>
              <a:t>Storage is used for </a:t>
            </a:r>
            <a:r>
              <a:rPr lang="en-US" sz="2300" b="1" dirty="0"/>
              <a:t>long-term data storage</a:t>
            </a:r>
            <a:r>
              <a:rPr lang="en-US" sz="2300" dirty="0"/>
              <a:t>.</a:t>
            </a:r>
          </a:p>
          <a:p>
            <a:endParaRPr lang="en-US" sz="2300" dirty="0"/>
          </a:p>
          <a:p>
            <a:r>
              <a:rPr lang="en-US" sz="2400" dirty="0"/>
              <a:t>Examples:</a:t>
            </a:r>
          </a:p>
          <a:p>
            <a:pPr lvl="0"/>
            <a:r>
              <a:rPr lang="en-US" sz="2400" dirty="0"/>
              <a:t>SSD </a:t>
            </a:r>
          </a:p>
          <a:p>
            <a:pPr lvl="0"/>
            <a:r>
              <a:rPr lang="en-US" sz="2400" dirty="0"/>
              <a:t>HDD </a:t>
            </a:r>
          </a:p>
          <a:p>
            <a:pPr lvl="0"/>
            <a:r>
              <a:rPr lang="en-US" sz="2400" dirty="0"/>
              <a:t>USB/pen drive </a:t>
            </a:r>
          </a:p>
          <a:p>
            <a:pPr lvl="0"/>
            <a:r>
              <a:rPr lang="en-US" sz="2400" dirty="0"/>
              <a:t>Memory card</a:t>
            </a:r>
          </a:p>
          <a:p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219152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C1868-3208-E576-E321-205DE2D3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Output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D46EA-63BC-6BFF-CCF5-9DE174BB1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b="1" dirty="0"/>
              <a:t>Output devices present the processed result to the user.</a:t>
            </a:r>
          </a:p>
          <a:p>
            <a:r>
              <a:rPr lang="en-US" sz="2300" b="1" dirty="0"/>
              <a:t>Examples:</a:t>
            </a:r>
          </a:p>
          <a:p>
            <a:pPr lvl="0"/>
            <a:r>
              <a:rPr lang="en-US" sz="2300" b="1" dirty="0"/>
              <a:t>Monitor </a:t>
            </a:r>
          </a:p>
          <a:p>
            <a:pPr lvl="0"/>
            <a:r>
              <a:rPr lang="en-US" sz="2300" b="1" dirty="0"/>
              <a:t>Printer </a:t>
            </a:r>
          </a:p>
          <a:p>
            <a:pPr lvl="0"/>
            <a:r>
              <a:rPr lang="en-US" sz="2300" b="1" dirty="0"/>
              <a:t>Speaker </a:t>
            </a:r>
          </a:p>
          <a:p>
            <a:pPr lvl="0"/>
            <a:r>
              <a:rPr lang="en-US" sz="2300" b="1" dirty="0"/>
              <a:t>Projector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22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AA8ED-8723-03D3-1810-264A6E6E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Programming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F1D06-BB34-B4C4-90E0-927B5FE0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b="1" dirty="0"/>
              <a:t>1. Machine Language</a:t>
            </a:r>
          </a:p>
          <a:p>
            <a:r>
              <a:rPr lang="en-US" sz="2000" dirty="0"/>
              <a:t>Machine language is the </a:t>
            </a:r>
            <a:r>
              <a:rPr lang="en-US" sz="2000" b="1" dirty="0"/>
              <a:t>lowest-level programming language</a:t>
            </a:r>
            <a:r>
              <a:rPr lang="en-US" sz="2000" dirty="0"/>
              <a:t>. It consists of binary instructions (0 and 1) that the CPU can execute directly.</a:t>
            </a:r>
          </a:p>
          <a:p>
            <a:r>
              <a:rPr lang="en-US" sz="2000" dirty="0"/>
              <a:t>Example:</a:t>
            </a:r>
          </a:p>
          <a:p>
            <a:r>
              <a:rPr lang="en-US" sz="2000" dirty="0"/>
              <a:t>10110000 01100001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049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66501-F567-AF0D-CBD5-0A6BFABD0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855406"/>
            <a:ext cx="11604046" cy="5426521"/>
          </a:xfrm>
        </p:spPr>
        <p:txBody>
          <a:bodyPr/>
          <a:lstStyle/>
          <a:p>
            <a:r>
              <a:rPr lang="en-US" sz="2300" b="1" dirty="0"/>
              <a:t>2. Assembly Language</a:t>
            </a:r>
          </a:p>
          <a:p>
            <a:r>
              <a:rPr lang="en-US" sz="2300" dirty="0"/>
              <a:t>Assembly language uses </a:t>
            </a:r>
            <a:r>
              <a:rPr lang="en-US" sz="2300" b="1" dirty="0"/>
              <a:t>mnemonics</a:t>
            </a:r>
            <a:r>
              <a:rPr lang="en-US" sz="2300" dirty="0"/>
              <a:t> instead of binary instructions.</a:t>
            </a:r>
          </a:p>
          <a:p>
            <a:r>
              <a:rPr lang="en-US" sz="2300" dirty="0"/>
              <a:t>Example:</a:t>
            </a:r>
          </a:p>
          <a:p>
            <a:r>
              <a:rPr lang="en-US" sz="2300" dirty="0"/>
              <a:t>MOV AX, 10</a:t>
            </a:r>
          </a:p>
          <a:p>
            <a:r>
              <a:rPr lang="en-US" sz="2300" dirty="0"/>
              <a:t>ADD AX, 20</a:t>
            </a:r>
          </a:p>
          <a:p>
            <a:r>
              <a:rPr lang="en-US" sz="2300" dirty="0"/>
              <a:t>Here:</a:t>
            </a:r>
          </a:p>
          <a:p>
            <a:pPr lvl="0"/>
            <a:r>
              <a:rPr lang="en-US" sz="2300" dirty="0"/>
              <a:t>MOV → move data </a:t>
            </a:r>
          </a:p>
          <a:p>
            <a:pPr lvl="0"/>
            <a:r>
              <a:rPr lang="en-US" sz="2300" dirty="0"/>
              <a:t>ADD → addition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556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83880-38CE-1271-ABF7-196BF9F75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855406"/>
            <a:ext cx="11604046" cy="5426521"/>
          </a:xfrm>
        </p:spPr>
        <p:txBody>
          <a:bodyPr>
            <a:normAutofit fontScale="92500" lnSpcReduction="10000"/>
          </a:bodyPr>
          <a:lstStyle/>
          <a:p>
            <a:r>
              <a:rPr lang="en-US" sz="2300" b="1" dirty="0"/>
              <a:t>3. High-Level Languages</a:t>
            </a:r>
          </a:p>
          <a:p>
            <a:r>
              <a:rPr lang="en-US" sz="2300" dirty="0"/>
              <a:t>High-level languages are designed to be </a:t>
            </a:r>
            <a:r>
              <a:rPr lang="en-US" sz="2300" b="1" dirty="0"/>
              <a:t>easier for humans to read, write, and understand</a:t>
            </a:r>
            <a:r>
              <a:rPr lang="en-US" sz="2300" dirty="0"/>
              <a:t>.</a:t>
            </a:r>
          </a:p>
          <a:p>
            <a:r>
              <a:rPr lang="en-US" sz="2300" dirty="0"/>
              <a:t>Examples:</a:t>
            </a:r>
          </a:p>
          <a:p>
            <a:r>
              <a:rPr lang="en-US" sz="2300" dirty="0"/>
              <a:t>C</a:t>
            </a:r>
          </a:p>
          <a:p>
            <a:r>
              <a:rPr lang="en-US" sz="2300" dirty="0"/>
              <a:t>C++</a:t>
            </a:r>
          </a:p>
          <a:p>
            <a:r>
              <a:rPr lang="en-US" sz="2300" dirty="0"/>
              <a:t>Java</a:t>
            </a:r>
          </a:p>
          <a:p>
            <a:r>
              <a:rPr lang="en-US" sz="2300" dirty="0"/>
              <a:t>Python</a:t>
            </a:r>
          </a:p>
          <a:p>
            <a:r>
              <a:rPr lang="en-US" sz="2300" dirty="0"/>
              <a:t>JavaScript</a:t>
            </a:r>
          </a:p>
          <a:p>
            <a:r>
              <a:rPr lang="en-US" sz="2300" dirty="0"/>
              <a:t>C#</a:t>
            </a:r>
          </a:p>
          <a:p>
            <a:r>
              <a:rPr lang="en-US" sz="2300" dirty="0"/>
              <a:t>Go</a:t>
            </a:r>
          </a:p>
          <a:p>
            <a:r>
              <a:rPr lang="en-US" sz="2300" dirty="0"/>
              <a:t>Rust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805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4637-5D6B-E2BF-D3DC-7CCE8CD63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77" y="1005065"/>
            <a:ext cx="11604046" cy="4234643"/>
          </a:xfrm>
        </p:spPr>
        <p:txBody>
          <a:bodyPr/>
          <a:lstStyle/>
          <a:p>
            <a:r>
              <a:rPr lang="en-US" sz="2300" b="1" dirty="0"/>
              <a:t>4. Procedural Programming Languages</a:t>
            </a:r>
          </a:p>
          <a:p>
            <a:r>
              <a:rPr lang="en-US" sz="2300" dirty="0"/>
              <a:t>A </a:t>
            </a:r>
            <a:r>
              <a:rPr lang="en-US" sz="2300" b="1" dirty="0"/>
              <a:t>procedural language</a:t>
            </a:r>
            <a:r>
              <a:rPr lang="en-US" sz="2300" dirty="0"/>
              <a:t> organizes a program as a sequence of procedures/functions.</a:t>
            </a:r>
          </a:p>
          <a:p>
            <a:endParaRPr lang="en-US" sz="2300" dirty="0"/>
          </a:p>
          <a:p>
            <a:r>
              <a:rPr lang="en-US" sz="2300" dirty="0"/>
              <a:t>Examples:</a:t>
            </a:r>
          </a:p>
          <a:p>
            <a:pPr lvl="0"/>
            <a:r>
              <a:rPr lang="en-US" sz="2300" dirty="0"/>
              <a:t>C </a:t>
            </a:r>
          </a:p>
          <a:p>
            <a:pPr lvl="0"/>
            <a:r>
              <a:rPr lang="en-US" sz="2300" dirty="0"/>
              <a:t>Pascal </a:t>
            </a:r>
          </a:p>
          <a:p>
            <a:pPr lvl="0"/>
            <a:r>
              <a:rPr lang="en-US" sz="2300" dirty="0"/>
              <a:t>FORTRAN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175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C4B1F-8E26-77D2-F5CD-230A6D02F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875072"/>
            <a:ext cx="11604046" cy="5406856"/>
          </a:xfrm>
        </p:spPr>
        <p:txBody>
          <a:bodyPr>
            <a:normAutofit/>
          </a:bodyPr>
          <a:lstStyle/>
          <a:p>
            <a:r>
              <a:rPr lang="en-US" sz="2300" b="1" dirty="0"/>
              <a:t>5. Object-Oriented Programming Languages</a:t>
            </a:r>
          </a:p>
          <a:p>
            <a:r>
              <a:rPr lang="en-US" dirty="0"/>
              <a:t>Object-oriented programming (</a:t>
            </a:r>
            <a:r>
              <a:rPr lang="en-US" b="1" dirty="0"/>
              <a:t>OOP</a:t>
            </a:r>
            <a:r>
              <a:rPr lang="en-US" dirty="0"/>
              <a:t>) organizes programs around </a:t>
            </a:r>
            <a:r>
              <a:rPr lang="en-US" b="1" dirty="0"/>
              <a:t>objects and classes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Class </a:t>
            </a:r>
          </a:p>
          <a:p>
            <a:pPr lvl="0"/>
            <a:r>
              <a:rPr lang="en-US" dirty="0"/>
              <a:t>Object </a:t>
            </a:r>
          </a:p>
          <a:p>
            <a:pPr lvl="0"/>
            <a:r>
              <a:rPr lang="en-US" dirty="0"/>
              <a:t>Encapsulation </a:t>
            </a:r>
          </a:p>
          <a:p>
            <a:pPr lvl="0"/>
            <a:r>
              <a:rPr lang="en-US" dirty="0"/>
              <a:t>Inheritance </a:t>
            </a:r>
          </a:p>
          <a:p>
            <a:pPr lvl="0"/>
            <a:r>
              <a:rPr lang="en-US" dirty="0"/>
              <a:t>Polymorphism </a:t>
            </a:r>
          </a:p>
          <a:p>
            <a:pPr lvl="0"/>
            <a:r>
              <a:rPr lang="en-US" dirty="0"/>
              <a:t>Abstraction 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Java</a:t>
            </a:r>
          </a:p>
          <a:p>
            <a:r>
              <a:rPr lang="en-US" dirty="0"/>
              <a:t>C++</a:t>
            </a:r>
          </a:p>
          <a:p>
            <a:r>
              <a:rPr lang="en-US" dirty="0"/>
              <a:t>C#</a:t>
            </a:r>
          </a:p>
          <a:p>
            <a:r>
              <a:rPr lang="en-US" dirty="0"/>
              <a:t>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649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063C-F8B4-4F74-A693-61F7EB024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1042220"/>
            <a:ext cx="11604046" cy="5239708"/>
          </a:xfrm>
        </p:spPr>
        <p:txBody>
          <a:bodyPr/>
          <a:lstStyle/>
          <a:p>
            <a:r>
              <a:rPr lang="en-US" sz="2300" b="1" dirty="0"/>
              <a:t>6. Functional Programming Languages</a:t>
            </a:r>
          </a:p>
          <a:p>
            <a:r>
              <a:rPr lang="en-US" sz="2000" dirty="0"/>
              <a:t>Functional programming focuses on </a:t>
            </a:r>
            <a:r>
              <a:rPr lang="en-US" sz="2000" b="1" dirty="0"/>
              <a:t>functions and expressions</a:t>
            </a:r>
            <a:r>
              <a:rPr lang="en-US" sz="2000" dirty="0"/>
              <a:t>.</a:t>
            </a:r>
          </a:p>
          <a:p>
            <a:r>
              <a:rPr lang="en-US" sz="2000" dirty="0"/>
              <a:t>Examples:</a:t>
            </a:r>
          </a:p>
          <a:p>
            <a:pPr lvl="0"/>
            <a:r>
              <a:rPr lang="en-US" sz="2000" dirty="0"/>
              <a:t>Haskell </a:t>
            </a:r>
          </a:p>
          <a:p>
            <a:pPr lvl="0"/>
            <a:r>
              <a:rPr lang="en-US" sz="2000" dirty="0"/>
              <a:t>Lisp </a:t>
            </a:r>
          </a:p>
          <a:p>
            <a:pPr lvl="0"/>
            <a:r>
              <a:rPr lang="en-US" sz="2000" dirty="0"/>
              <a:t>Erlang </a:t>
            </a:r>
          </a:p>
          <a:p>
            <a:pPr lvl="0"/>
            <a:r>
              <a:rPr lang="en-US" sz="2000" dirty="0"/>
              <a:t>F# </a:t>
            </a:r>
          </a:p>
          <a:p>
            <a:pPr lvl="0"/>
            <a:r>
              <a:rPr lang="en-US" sz="2000" dirty="0"/>
              <a:t>Scala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6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66129-B41D-C23B-1670-5EBFA8C98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747252"/>
            <a:ext cx="11604046" cy="5534675"/>
          </a:xfrm>
        </p:spPr>
        <p:txBody>
          <a:bodyPr/>
          <a:lstStyle/>
          <a:p>
            <a:r>
              <a:rPr lang="en-US" sz="2300" b="1" dirty="0"/>
              <a:t>7. Scripting Languages</a:t>
            </a:r>
          </a:p>
          <a:p>
            <a:r>
              <a:rPr lang="en-US" sz="2000" dirty="0"/>
              <a:t>Scripting languages are commonly used for </a:t>
            </a:r>
            <a:r>
              <a:rPr lang="en-US" sz="2000" b="1" dirty="0"/>
              <a:t>automation, web development, and system tasks</a:t>
            </a:r>
            <a:r>
              <a:rPr lang="en-US" sz="2000" dirty="0"/>
              <a:t>.</a:t>
            </a:r>
          </a:p>
          <a:p>
            <a:r>
              <a:rPr lang="en-US" sz="2000" dirty="0"/>
              <a:t>Examples:</a:t>
            </a:r>
          </a:p>
          <a:p>
            <a:r>
              <a:rPr lang="en-US" sz="2000" dirty="0"/>
              <a:t>JavaScript</a:t>
            </a:r>
          </a:p>
          <a:p>
            <a:r>
              <a:rPr lang="en-US" sz="2000" dirty="0"/>
              <a:t>Python</a:t>
            </a:r>
          </a:p>
          <a:p>
            <a:r>
              <a:rPr lang="en-US" sz="2000" dirty="0"/>
              <a:t>PHP</a:t>
            </a:r>
          </a:p>
          <a:p>
            <a:r>
              <a:rPr lang="en-US" sz="2000" dirty="0"/>
              <a:t>Ruby</a:t>
            </a:r>
          </a:p>
          <a:p>
            <a:r>
              <a:rPr lang="en-US" sz="2000" dirty="0"/>
              <a:t>Bash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64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70F1-2460-42F3-4231-BF76EDE54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753183"/>
          </a:xfrm>
        </p:spPr>
        <p:txBody>
          <a:bodyPr>
            <a:normAutofit/>
          </a:bodyPr>
          <a:lstStyle/>
          <a:p>
            <a:r>
              <a:rPr lang="en-US" sz="3200" b="1" dirty="0"/>
              <a:t>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2CB73-AE2B-0DC2-EE77-D71D177FB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3600" dirty="0"/>
              <a:t>A </a:t>
            </a:r>
            <a:r>
              <a:rPr lang="en-US" sz="3600" b="1" dirty="0"/>
              <a:t>compiler</a:t>
            </a:r>
            <a:r>
              <a:rPr lang="en-US" sz="3600" dirty="0"/>
              <a:t> is a system software that </a:t>
            </a:r>
            <a:r>
              <a:rPr lang="en-US" sz="3600" b="1" dirty="0"/>
              <a:t>translates a program written in a high-level programming language into machine code or another lower-level form that a computer can execute</a:t>
            </a:r>
            <a:r>
              <a:rPr lang="en-US" sz="3600" dirty="0"/>
              <a:t>.</a:t>
            </a:r>
          </a:p>
          <a:p>
            <a:endParaRPr lang="en-US" sz="2000" dirty="0"/>
          </a:p>
          <a:p>
            <a:r>
              <a:rPr lang="en-US" sz="2900" dirty="0"/>
              <a:t>High-Level Source Code</a:t>
            </a:r>
          </a:p>
          <a:p>
            <a:r>
              <a:rPr lang="en-US" sz="2900" dirty="0"/>
              <a:t>        ↓</a:t>
            </a:r>
          </a:p>
          <a:p>
            <a:r>
              <a:rPr lang="en-US" sz="2900" dirty="0"/>
              <a:t>     Compiler</a:t>
            </a:r>
          </a:p>
          <a:p>
            <a:r>
              <a:rPr lang="en-US" sz="2900" dirty="0"/>
              <a:t>        ↓</a:t>
            </a:r>
          </a:p>
          <a:p>
            <a:r>
              <a:rPr lang="en-US" sz="2900" dirty="0"/>
              <a:t>   Machine/Object Code</a:t>
            </a:r>
          </a:p>
          <a:p>
            <a:r>
              <a:rPr lang="en-US" sz="2900" dirty="0"/>
              <a:t>        ↓</a:t>
            </a:r>
          </a:p>
          <a:p>
            <a:r>
              <a:rPr lang="en-US" sz="2900" dirty="0"/>
              <a:t>      Executable</a:t>
            </a:r>
          </a:p>
          <a:p>
            <a:r>
              <a:rPr lang="en-US" sz="2900" dirty="0"/>
              <a:t>        ↓</a:t>
            </a:r>
          </a:p>
          <a:p>
            <a:r>
              <a:rPr lang="en-US" sz="2900" dirty="0"/>
              <a:t>        CPU</a:t>
            </a:r>
          </a:p>
        </p:txBody>
      </p:sp>
    </p:spTree>
    <p:extLst>
      <p:ext uri="{BB962C8B-B14F-4D97-AF65-F5344CB8AC3E}">
        <p14:creationId xmlns:p14="http://schemas.microsoft.com/office/powerpoint/2010/main" val="2684840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6423-ED70-ECD2-1599-5A65BFFB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F5058-0EDA-F8F3-7C6B-8FDE060A1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300" dirty="0"/>
              <a:t>Interpreter = Translates and executes program during runtime.</a:t>
            </a:r>
          </a:p>
          <a:p>
            <a:endParaRPr lang="en-US" sz="2300" dirty="0"/>
          </a:p>
          <a:p>
            <a:r>
              <a:rPr lang="en-US" sz="2300" dirty="0"/>
              <a:t>High-Level Source Code</a:t>
            </a:r>
          </a:p>
          <a:p>
            <a:r>
              <a:rPr lang="en-US" sz="2300" dirty="0"/>
              <a:t>        ↓</a:t>
            </a:r>
          </a:p>
          <a:p>
            <a:r>
              <a:rPr lang="en-US" sz="2300" dirty="0"/>
              <a:t>    Interpreter</a:t>
            </a:r>
          </a:p>
          <a:p>
            <a:r>
              <a:rPr lang="en-US" sz="2300" dirty="0"/>
              <a:t>        ↓</a:t>
            </a:r>
          </a:p>
          <a:p>
            <a:r>
              <a:rPr lang="en-US" sz="2300" dirty="0"/>
              <a:t> Translate / Execute</a:t>
            </a:r>
          </a:p>
          <a:p>
            <a:r>
              <a:rPr lang="en-US" sz="2300" dirty="0"/>
              <a:t>        ↓</a:t>
            </a:r>
          </a:p>
          <a:p>
            <a:r>
              <a:rPr lang="en-US" sz="2300" dirty="0"/>
              <a:t>      Output</a:t>
            </a:r>
          </a:p>
        </p:txBody>
      </p:sp>
    </p:spTree>
    <p:extLst>
      <p:ext uri="{BB962C8B-B14F-4D97-AF65-F5344CB8AC3E}">
        <p14:creationId xmlns:p14="http://schemas.microsoft.com/office/powerpoint/2010/main" val="2804288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9420-C0E9-6445-3894-158B4B00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645028"/>
          </a:xfrm>
        </p:spPr>
        <p:txBody>
          <a:bodyPr>
            <a:normAutofit/>
          </a:bodyPr>
          <a:lstStyle/>
          <a:p>
            <a:r>
              <a:rPr lang="en-US" sz="3200" b="1" dirty="0"/>
              <a:t>Linker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9A770-99F5-89FF-E4DA-A450703FB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1514168"/>
            <a:ext cx="11604046" cy="5260258"/>
          </a:xfrm>
        </p:spPr>
        <p:txBody>
          <a:bodyPr>
            <a:noAutofit/>
          </a:bodyPr>
          <a:lstStyle/>
          <a:p>
            <a:r>
              <a:rPr lang="en-US" sz="1500" dirty="0"/>
              <a:t>A </a:t>
            </a:r>
            <a:r>
              <a:rPr lang="en-US" sz="1500" b="1" dirty="0"/>
              <a:t>linker</a:t>
            </a:r>
            <a:r>
              <a:rPr lang="en-US" sz="1500" dirty="0"/>
              <a:t> is a system program that combines </a:t>
            </a:r>
            <a:r>
              <a:rPr lang="en-US" sz="1500" b="1" dirty="0"/>
              <a:t>object files and required libraries</a:t>
            </a:r>
            <a:r>
              <a:rPr lang="en-US" sz="1500" dirty="0"/>
              <a:t> to create a final </a:t>
            </a:r>
            <a:r>
              <a:rPr lang="en-US" sz="1500" b="1" dirty="0"/>
              <a:t>executable program</a:t>
            </a:r>
            <a:r>
              <a:rPr lang="en-US" sz="1500" dirty="0"/>
              <a:t>.</a:t>
            </a:r>
          </a:p>
          <a:p>
            <a:endParaRPr lang="en-US" sz="1500" dirty="0"/>
          </a:p>
          <a:p>
            <a:r>
              <a:rPr lang="en-US" sz="1500" dirty="0"/>
              <a:t>Your C Program</a:t>
            </a:r>
          </a:p>
          <a:p>
            <a:r>
              <a:rPr lang="en-US" sz="1500" dirty="0"/>
              <a:t>      ↓</a:t>
            </a:r>
          </a:p>
          <a:p>
            <a:r>
              <a:rPr lang="en-US" sz="1500" dirty="0"/>
              <a:t>   Compiler</a:t>
            </a:r>
          </a:p>
          <a:p>
            <a:r>
              <a:rPr lang="en-US" sz="1500" dirty="0"/>
              <a:t>      ↓</a:t>
            </a:r>
          </a:p>
          <a:p>
            <a:r>
              <a:rPr lang="en-US" sz="1500" dirty="0"/>
              <a:t> Object File</a:t>
            </a:r>
          </a:p>
          <a:p>
            <a:r>
              <a:rPr lang="en-US" sz="1500" dirty="0"/>
              <a:t>      ↓</a:t>
            </a:r>
          </a:p>
          <a:p>
            <a:r>
              <a:rPr lang="en-US" sz="1500" dirty="0"/>
              <a:t>      + ← C Library</a:t>
            </a:r>
          </a:p>
          <a:p>
            <a:r>
              <a:rPr lang="en-US" sz="1500" dirty="0"/>
              <a:t>      ↓</a:t>
            </a:r>
          </a:p>
          <a:p>
            <a:r>
              <a:rPr lang="en-US" sz="1500" dirty="0"/>
              <a:t>    Linker</a:t>
            </a:r>
          </a:p>
          <a:p>
            <a:r>
              <a:rPr lang="en-US" sz="1500" dirty="0"/>
              <a:t>      ↓</a:t>
            </a:r>
          </a:p>
          <a:p>
            <a:r>
              <a:rPr lang="en-US" sz="1500" dirty="0"/>
              <a:t> Executable File</a:t>
            </a:r>
          </a:p>
        </p:txBody>
      </p:sp>
    </p:spTree>
    <p:extLst>
      <p:ext uri="{BB962C8B-B14F-4D97-AF65-F5344CB8AC3E}">
        <p14:creationId xmlns:p14="http://schemas.microsoft.com/office/powerpoint/2010/main" val="1988332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99AA-374D-BBE0-5831-426C20C81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Loader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8D70E-57DA-3895-283A-A15D57BCF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 loader is a system program that loads an executable program into main memory, performs necessary preparation such as relocation and runtime linking support, and transfers control to the program for execution.</a:t>
            </a:r>
          </a:p>
        </p:txBody>
      </p:sp>
    </p:spTree>
    <p:extLst>
      <p:ext uri="{BB962C8B-B14F-4D97-AF65-F5344CB8AC3E}">
        <p14:creationId xmlns:p14="http://schemas.microsoft.com/office/powerpoint/2010/main" val="3884720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DEB87-E04D-0A7F-F026-865D9050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806246"/>
            <a:ext cx="11604046" cy="6051754"/>
          </a:xfrm>
        </p:spPr>
        <p:txBody>
          <a:bodyPr>
            <a:noAutofit/>
          </a:bodyPr>
          <a:lstStyle/>
          <a:p>
            <a:r>
              <a:rPr lang="en-US" sz="1200" b="1" dirty="0"/>
              <a:t>C Source Code</a:t>
            </a:r>
          </a:p>
          <a:p>
            <a:r>
              <a:rPr lang="en-US" sz="1200" b="1" dirty="0"/>
              <a:t>      ↓</a:t>
            </a:r>
          </a:p>
          <a:p>
            <a:r>
              <a:rPr lang="en-US" sz="1200" b="1" dirty="0"/>
              <a:t>   Compiler</a:t>
            </a:r>
          </a:p>
          <a:p>
            <a:r>
              <a:rPr lang="en-US" sz="1200" b="1" dirty="0"/>
              <a:t>      ↓</a:t>
            </a:r>
          </a:p>
          <a:p>
            <a:r>
              <a:rPr lang="en-US" sz="1200" b="1" dirty="0"/>
              <a:t> Object Code</a:t>
            </a:r>
          </a:p>
          <a:p>
            <a:r>
              <a:rPr lang="en-US" sz="1200" b="1" dirty="0"/>
              <a:t>      ↓</a:t>
            </a:r>
          </a:p>
          <a:p>
            <a:r>
              <a:rPr lang="en-US" sz="1200" b="1" dirty="0"/>
              <a:t>    Linker</a:t>
            </a:r>
          </a:p>
          <a:p>
            <a:r>
              <a:rPr lang="en-US" sz="1200" b="1" dirty="0"/>
              <a:t>      ↓</a:t>
            </a:r>
          </a:p>
          <a:p>
            <a:r>
              <a:rPr lang="en-US" sz="1200" b="1" dirty="0"/>
              <a:t> Executable File</a:t>
            </a:r>
          </a:p>
          <a:p>
            <a:r>
              <a:rPr lang="en-US" sz="1200" b="1" dirty="0"/>
              <a:t>      ↓</a:t>
            </a:r>
          </a:p>
          <a:p>
            <a:r>
              <a:rPr lang="en-US" sz="1200" b="1" dirty="0"/>
              <a:t>    Loader</a:t>
            </a:r>
          </a:p>
          <a:p>
            <a:r>
              <a:rPr lang="en-US" sz="1200" b="1" dirty="0"/>
              <a:t>      ↓</a:t>
            </a:r>
          </a:p>
          <a:p>
            <a:r>
              <a:rPr lang="en-US" sz="1200" b="1" dirty="0"/>
              <a:t>     RAM</a:t>
            </a:r>
          </a:p>
          <a:p>
            <a:r>
              <a:rPr lang="en-US" sz="1200" b="1" dirty="0"/>
              <a:t>      ↓</a:t>
            </a:r>
          </a:p>
          <a:p>
            <a:r>
              <a:rPr lang="en-US" sz="1200" b="1" dirty="0"/>
              <a:t>     CPU</a:t>
            </a:r>
          </a:p>
          <a:p>
            <a:r>
              <a:rPr lang="en-US" sz="1200" b="1" dirty="0"/>
              <a:t>      ↓</a:t>
            </a:r>
          </a:p>
          <a:p>
            <a:r>
              <a:rPr lang="en-US" sz="1200" b="1" dirty="0"/>
              <a:t>   Program Runs</a:t>
            </a:r>
          </a:p>
        </p:txBody>
      </p:sp>
    </p:spTree>
    <p:extLst>
      <p:ext uri="{BB962C8B-B14F-4D97-AF65-F5344CB8AC3E}">
        <p14:creationId xmlns:p14="http://schemas.microsoft.com/office/powerpoint/2010/main" val="334878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53F8-9253-EFFF-46D7-F0880FD41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8A2E6-4104-6CEE-AFAB-53953BC45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300" dirty="0"/>
              <a:t>Algorithm = Step-by-step instructions to solve a problem.</a:t>
            </a:r>
          </a:p>
          <a:p>
            <a:endParaRPr lang="en-US" sz="2300" dirty="0"/>
          </a:p>
          <a:p>
            <a:r>
              <a:rPr lang="en-US" sz="2300" dirty="0"/>
              <a:t>Step 1: Start</a:t>
            </a:r>
          </a:p>
          <a:p>
            <a:r>
              <a:rPr lang="en-US" sz="2300" dirty="0"/>
              <a:t>Step 2: Read A</a:t>
            </a:r>
          </a:p>
          <a:p>
            <a:r>
              <a:rPr lang="en-US" sz="2300" dirty="0"/>
              <a:t>Step 3: Read B</a:t>
            </a:r>
          </a:p>
          <a:p>
            <a:r>
              <a:rPr lang="en-US" sz="2300" dirty="0"/>
              <a:t>Step 4: Calculate Sum = A + B</a:t>
            </a:r>
          </a:p>
          <a:p>
            <a:r>
              <a:rPr lang="en-US" sz="2300" dirty="0"/>
              <a:t>Step 5: Display Sum</a:t>
            </a:r>
          </a:p>
          <a:p>
            <a:r>
              <a:rPr lang="en-US" sz="2300" dirty="0"/>
              <a:t>Step 6: Stop</a:t>
            </a:r>
          </a:p>
        </p:txBody>
      </p:sp>
    </p:spTree>
    <p:extLst>
      <p:ext uri="{BB962C8B-B14F-4D97-AF65-F5344CB8AC3E}">
        <p14:creationId xmlns:p14="http://schemas.microsoft.com/office/powerpoint/2010/main" val="3346569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E6524-0CA6-018C-C347-8263265E5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Algorithm vs Program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A8858A-FBF1-2F1C-CE34-F61CB10DA9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517321"/>
              </p:ext>
            </p:extLst>
          </p:nvPr>
        </p:nvGraphicFramePr>
        <p:xfrm>
          <a:off x="301625" y="2596700"/>
          <a:ext cx="11604624" cy="2752046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4230421434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773049101"/>
                    </a:ext>
                  </a:extLst>
                </a:gridCol>
              </a:tblGrid>
              <a:tr h="709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299603"/>
                  </a:ext>
                </a:extLst>
              </a:tr>
              <a:tr h="40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Problem-solving procedure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Implementation of 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504691"/>
                  </a:ext>
                </a:extLst>
              </a:tr>
              <a:tr h="40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Language independent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Written in a programming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363220"/>
                  </a:ext>
                </a:extLst>
              </a:tr>
              <a:tr h="40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Written using steps/pseudocode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Written using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784418"/>
                  </a:ext>
                </a:extLst>
              </a:tr>
              <a:tr h="40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Focuses on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Focuses on 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083297"/>
                  </a:ext>
                </a:extLst>
              </a:tr>
              <a:tr h="40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Can be represented using flowcharts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Executed by computer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114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79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2B41-C40B-F4DE-815B-49C596E1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Characteristics of an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24463-A159-4660-6053-AD913683A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 dirty="0"/>
              <a:t>1. Input</a:t>
            </a:r>
          </a:p>
          <a:p>
            <a:r>
              <a:rPr lang="en-US" sz="2000" dirty="0"/>
              <a:t>An algorithm should accept </a:t>
            </a:r>
            <a:r>
              <a:rPr lang="en-US" sz="2000" b="1" dirty="0"/>
              <a:t>zero or more inputs</a:t>
            </a:r>
            <a:r>
              <a:rPr lang="en-US" sz="2000" dirty="0"/>
              <a:t>.</a:t>
            </a:r>
          </a:p>
          <a:p>
            <a:r>
              <a:rPr lang="en-US" sz="2000" dirty="0"/>
              <a:t>Example:</a:t>
            </a:r>
          </a:p>
          <a:p>
            <a:r>
              <a:rPr lang="en-US" sz="2000" dirty="0"/>
              <a:t>Input: A, B</a:t>
            </a:r>
          </a:p>
          <a:p>
            <a:endParaRPr lang="en-US" sz="2000" dirty="0"/>
          </a:p>
          <a:p>
            <a:r>
              <a:rPr lang="en-US" sz="2000" b="1" dirty="0"/>
              <a:t>2. Output</a:t>
            </a:r>
          </a:p>
          <a:p>
            <a:r>
              <a:rPr lang="en-US" sz="2000" dirty="0"/>
              <a:t>An algorithm should produce </a:t>
            </a:r>
            <a:r>
              <a:rPr lang="en-US" sz="2000" b="1" dirty="0"/>
              <a:t>at least one output</a:t>
            </a:r>
            <a:r>
              <a:rPr lang="en-US" sz="2000" dirty="0"/>
              <a:t>.</a:t>
            </a:r>
          </a:p>
          <a:p>
            <a:r>
              <a:rPr lang="en-US" sz="2000" dirty="0"/>
              <a:t>Example:</a:t>
            </a:r>
          </a:p>
          <a:p>
            <a:r>
              <a:rPr lang="en-US" sz="2000" dirty="0"/>
              <a:t>Output = 30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749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E4BE6-1159-9104-1D03-10BBED1AB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757084"/>
            <a:ext cx="11604046" cy="5879690"/>
          </a:xfrm>
        </p:spPr>
        <p:txBody>
          <a:bodyPr>
            <a:normAutofit/>
          </a:bodyPr>
          <a:lstStyle/>
          <a:p>
            <a:r>
              <a:rPr lang="en-US" sz="2000" b="1" dirty="0"/>
              <a:t>3. Definiteness</a:t>
            </a:r>
          </a:p>
          <a:p>
            <a:r>
              <a:rPr lang="en-US" sz="2000" dirty="0"/>
              <a:t>Every step must be </a:t>
            </a:r>
            <a:r>
              <a:rPr lang="en-US" sz="2000" b="1" dirty="0"/>
              <a:t>clear, precise, and unambiguous</a:t>
            </a:r>
            <a:r>
              <a:rPr lang="en-US" sz="2000" dirty="0"/>
              <a:t>.</a:t>
            </a:r>
          </a:p>
          <a:p>
            <a:r>
              <a:rPr lang="en-US" sz="2000" dirty="0"/>
              <a:t>Calculate Sum = A + B</a:t>
            </a:r>
          </a:p>
          <a:p>
            <a:endParaRPr lang="en-US" sz="2000" dirty="0"/>
          </a:p>
          <a:p>
            <a:r>
              <a:rPr lang="en-US" sz="2000" b="1" dirty="0"/>
              <a:t>4. Finiteness</a:t>
            </a:r>
          </a:p>
          <a:p>
            <a:r>
              <a:rPr lang="en-US" sz="2000" dirty="0"/>
              <a:t>An algorithm must </a:t>
            </a:r>
            <a:r>
              <a:rPr lang="en-US" sz="2000" b="1" dirty="0"/>
              <a:t>terminate after a finite number of steps</a:t>
            </a:r>
            <a:r>
              <a:rPr lang="en-US" sz="2000" dirty="0"/>
              <a:t>.</a:t>
            </a:r>
          </a:p>
          <a:p>
            <a:r>
              <a:rPr lang="en-US" sz="2000" dirty="0"/>
              <a:t>Example:</a:t>
            </a:r>
          </a:p>
          <a:p>
            <a:r>
              <a:rPr lang="en-US" sz="2000" dirty="0"/>
              <a:t>Step 1</a:t>
            </a:r>
          </a:p>
          <a:p>
            <a:r>
              <a:rPr lang="en-US" sz="2000" dirty="0"/>
              <a:t>Step 2</a:t>
            </a:r>
          </a:p>
          <a:p>
            <a:r>
              <a:rPr lang="en-US" sz="2000" dirty="0"/>
              <a:t>Step 3</a:t>
            </a:r>
          </a:p>
          <a:p>
            <a:r>
              <a:rPr lang="en-US" sz="2000" dirty="0"/>
              <a:t>Step 4</a:t>
            </a:r>
          </a:p>
          <a:p>
            <a:r>
              <a:rPr lang="en-US" sz="2000" dirty="0"/>
              <a:t>Stop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4652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912E3-B96C-4BA8-D394-E96267F20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07" y="778923"/>
            <a:ext cx="11604046" cy="4234643"/>
          </a:xfrm>
        </p:spPr>
        <p:txBody>
          <a:bodyPr/>
          <a:lstStyle/>
          <a:p>
            <a:r>
              <a:rPr lang="en-US" sz="2000" b="1" dirty="0"/>
              <a:t>5. Effectiveness</a:t>
            </a:r>
          </a:p>
          <a:p>
            <a:r>
              <a:rPr lang="en-US" sz="2000" dirty="0"/>
              <a:t>Every instruction should be </a:t>
            </a:r>
            <a:r>
              <a:rPr lang="en-US" sz="2000" b="1" dirty="0"/>
              <a:t>simple enough to be performed in a finite amount of time</a:t>
            </a:r>
            <a:r>
              <a:rPr lang="en-US" sz="2000" dirty="0"/>
              <a:t>.</a:t>
            </a:r>
          </a:p>
          <a:p>
            <a:r>
              <a:rPr lang="en-US" sz="2000" dirty="0"/>
              <a:t>example:</a:t>
            </a:r>
          </a:p>
          <a:p>
            <a:r>
              <a:rPr lang="en-US" sz="2000" dirty="0"/>
              <a:t>Read A</a:t>
            </a:r>
          </a:p>
          <a:p>
            <a:r>
              <a:rPr lang="en-US" sz="2000" dirty="0"/>
              <a:t>Read B</a:t>
            </a:r>
          </a:p>
          <a:p>
            <a:r>
              <a:rPr lang="en-US" sz="2000" dirty="0"/>
              <a:t>Calculate A + B</a:t>
            </a:r>
          </a:p>
          <a:p>
            <a:r>
              <a:rPr lang="en-US" sz="2000" dirty="0"/>
              <a:t>Display result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444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0B90D-D329-DF16-1B80-50E9A429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Complexity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8ACD8-B340-3E17-4E9D-394B7080E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Big O       → O()</a:t>
            </a:r>
          </a:p>
          <a:p>
            <a:r>
              <a:rPr lang="en-US" sz="2000" dirty="0"/>
              <a:t>Big Omega   → </a:t>
            </a:r>
            <a:r>
              <a:rPr lang="el-GR" sz="2000" dirty="0"/>
              <a:t>Ω()</a:t>
            </a:r>
          </a:p>
          <a:p>
            <a:r>
              <a:rPr lang="en-US" sz="2000" dirty="0"/>
              <a:t>Big Theta   → </a:t>
            </a:r>
            <a:r>
              <a:rPr lang="el-GR" sz="2000" dirty="0"/>
              <a:t>Θ()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61249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862F9-3986-AB74-481D-7D8FF169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Big O Notation — O()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8A1E2-5D4A-9411-8F38-140D117CB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Big O notation describes an asymptotic upper bound on an algorithm's growth.</a:t>
            </a:r>
          </a:p>
          <a:p>
            <a:endParaRPr lang="en-US" sz="2000" dirty="0"/>
          </a:p>
          <a:p>
            <a:r>
              <a:rPr lang="pt-BR" sz="2000" dirty="0"/>
              <a:t>O(1)</a:t>
            </a:r>
          </a:p>
          <a:p>
            <a:r>
              <a:rPr lang="pt-BR" sz="2000" dirty="0"/>
              <a:t>O(log n)</a:t>
            </a:r>
          </a:p>
          <a:p>
            <a:r>
              <a:rPr lang="pt-BR" sz="2000" dirty="0"/>
              <a:t>O(n)</a:t>
            </a:r>
          </a:p>
          <a:p>
            <a:r>
              <a:rPr lang="pt-BR" sz="2000" dirty="0"/>
              <a:t>O(n log n)</a:t>
            </a:r>
          </a:p>
          <a:p>
            <a:r>
              <a:rPr lang="pt-BR" sz="2000" dirty="0"/>
              <a:t>O(n²)</a:t>
            </a:r>
          </a:p>
          <a:p>
            <a:r>
              <a:rPr lang="pt-BR" sz="2000" dirty="0"/>
              <a:t>O(2ⁿ)</a:t>
            </a:r>
          </a:p>
          <a:p>
            <a:r>
              <a:rPr lang="pt-BR" sz="2000" dirty="0"/>
              <a:t>O(n!)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30696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AC84-99A1-575F-67F6-94C71AC7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Big Omega — Ω()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DCC1A-F0AD-1E5F-DEFB-8D8D05447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Big Omega notation describes an asymptotic lower bound on the growth of an algorithm.</a:t>
            </a:r>
          </a:p>
          <a:p>
            <a:endParaRPr lang="en-US" sz="2000" dirty="0"/>
          </a:p>
          <a:p>
            <a:r>
              <a:rPr lang="el-GR" sz="2000" dirty="0"/>
              <a:t>Ω(1)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47162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5D97C-3BA9-2AC5-29A5-4201F89B6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Big Theta — Θ()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13313-9443-E052-4B55-38B2BAAF5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Big Theta notation describes a tight asymptotic bound when the upper and lower bounds have the same order of growth.</a:t>
            </a:r>
          </a:p>
          <a:p>
            <a:endParaRPr lang="en-US" sz="2000" b="1" dirty="0"/>
          </a:p>
          <a:p>
            <a:r>
              <a:rPr lang="nn-NO" sz="2000" b="1" dirty="0"/>
              <a:t>for (int i = 0; i &lt; n; i++) {</a:t>
            </a:r>
          </a:p>
          <a:p>
            <a:r>
              <a:rPr lang="nn-NO" sz="2000" b="1" dirty="0"/>
              <a:t>    printf("%d", i);</a:t>
            </a:r>
          </a:p>
          <a:p>
            <a:r>
              <a:rPr lang="nn-NO" sz="2000" b="1" dirty="0"/>
              <a:t>}</a:t>
            </a:r>
          </a:p>
          <a:p>
            <a:r>
              <a:rPr lang="el-GR" sz="2000" b="1" dirty="0"/>
              <a:t>Θ(</a:t>
            </a:r>
            <a:r>
              <a:rPr lang="en-US" sz="2000" b="1" dirty="0"/>
              <a:t>n)</a:t>
            </a:r>
          </a:p>
        </p:txBody>
      </p:sp>
    </p:spTree>
    <p:extLst>
      <p:ext uri="{BB962C8B-B14F-4D97-AF65-F5344CB8AC3E}">
        <p14:creationId xmlns:p14="http://schemas.microsoft.com/office/powerpoint/2010/main" val="144895429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767</TotalTime>
  <Words>986</Words>
  <Application>Microsoft Office PowerPoint</Application>
  <PresentationFormat>Widescreen</PresentationFormat>
  <Paragraphs>250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Arial</vt:lpstr>
      <vt:lpstr>Arial Nova Light</vt:lpstr>
      <vt:lpstr>Dark Gradient</vt:lpstr>
      <vt:lpstr>C Programming</vt:lpstr>
      <vt:lpstr>Introduction to Computers</vt:lpstr>
      <vt:lpstr>PowerPoint Presentation</vt:lpstr>
      <vt:lpstr>PowerPoint Presentation</vt:lpstr>
      <vt:lpstr>Input Devices</vt:lpstr>
      <vt:lpstr>CPU – Central Processing Unit</vt:lpstr>
      <vt:lpstr>Memory</vt:lpstr>
      <vt:lpstr>Storage</vt:lpstr>
      <vt:lpstr>Output Devices</vt:lpstr>
      <vt:lpstr>Types of Programming Languages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Compiler</vt:lpstr>
      <vt:lpstr>Interpreter</vt:lpstr>
      <vt:lpstr>Linker</vt:lpstr>
      <vt:lpstr>Loader</vt:lpstr>
      <vt:lpstr>PowerPoint Presentation</vt:lpstr>
      <vt:lpstr>Algorithm</vt:lpstr>
      <vt:lpstr>Algorithm vs Program</vt:lpstr>
      <vt:lpstr>Characteristics of an Algorithm</vt:lpstr>
      <vt:lpstr>PowerPoint Presentation</vt:lpstr>
      <vt:lpstr>PowerPoint Presentation</vt:lpstr>
      <vt:lpstr>Complexity Notations</vt:lpstr>
      <vt:lpstr>Big O Notation — O()</vt:lpstr>
      <vt:lpstr>Big Omega — Ω()</vt:lpstr>
      <vt:lpstr>Big Theta — Θ()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Kumar</dc:creator>
  <cp:lastModifiedBy>Rohit Kumar</cp:lastModifiedBy>
  <cp:revision>2</cp:revision>
  <dcterms:created xsi:type="dcterms:W3CDTF">2026-08-17T05:22:20Z</dcterms:created>
  <dcterms:modified xsi:type="dcterms:W3CDTF">2026-08-18T16:07:53Z</dcterms:modified>
</cp:coreProperties>
</file>