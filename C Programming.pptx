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3" d="2"/>
        <a:sy n="3" d="2"/>
      </p:scale>
      <p:origin x="0" y="-43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4B056-9652-4BB6-A0B4-FEEF5BCC460D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E31DC-EB1B-486B-90FC-9A4CC2C6E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84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E31DC-EB1B-486B-90FC-9A4CC2C6E3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939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E31DC-EB1B-486B-90FC-9A4CC2C6E3E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85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23B76-2841-47BD-A900-CD6BA3A474C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7023-2F8D-464D-B3AD-33CAFE91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7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23B76-2841-47BD-A900-CD6BA3A474C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7023-2F8D-464D-B3AD-33CAFE91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90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23B76-2841-47BD-A900-CD6BA3A474C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7023-2F8D-464D-B3AD-33CAFE91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24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23B76-2841-47BD-A900-CD6BA3A474C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7023-2F8D-464D-B3AD-33CAFE91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53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23B76-2841-47BD-A900-CD6BA3A474C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7023-2F8D-464D-B3AD-33CAFE91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17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23B76-2841-47BD-A900-CD6BA3A474C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7023-2F8D-464D-B3AD-33CAFE91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50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23B76-2841-47BD-A900-CD6BA3A474C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7023-2F8D-464D-B3AD-33CAFE91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59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23B76-2841-47BD-A900-CD6BA3A474C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7023-2F8D-464D-B3AD-33CAFE91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60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23B76-2841-47BD-A900-CD6BA3A474C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7023-2F8D-464D-B3AD-33CAFE91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20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23B76-2841-47BD-A900-CD6BA3A474C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7023-2F8D-464D-B3AD-33CAFE91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486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23B76-2841-47BD-A900-CD6BA3A474C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7023-2F8D-464D-B3AD-33CAFE91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38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23B76-2841-47BD-A900-CD6BA3A474C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7023-2F8D-464D-B3AD-33CAFE91F6E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21666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23B76-2841-47BD-A900-CD6BA3A474C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7023-2F8D-464D-B3AD-33CAFE91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8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23B76-2841-47BD-A900-CD6BA3A474C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7023-2F8D-464D-B3AD-33CAFE91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217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23B76-2841-47BD-A900-CD6BA3A474C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7023-2F8D-464D-B3AD-33CAFE91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86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23B76-2841-47BD-A900-CD6BA3A474C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7023-2F8D-464D-B3AD-33CAFE91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66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23B76-2841-47BD-A900-CD6BA3A474C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7023-2F8D-464D-B3AD-33CAFE91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39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D023B76-2841-47BD-A900-CD6BA3A474C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07023-2F8D-464D-B3AD-33CAFE91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453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6EBE6-3D64-B6FE-8582-771090000D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 Programming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91D30-A4B2-48B6-BF28-7D39364DF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58865" y="6066502"/>
            <a:ext cx="3057832" cy="717755"/>
          </a:xfrm>
        </p:spPr>
        <p:txBody>
          <a:bodyPr>
            <a:normAutofit/>
          </a:bodyPr>
          <a:lstStyle/>
          <a:p>
            <a:r>
              <a:rPr lang="en-US" sz="3000" b="1" dirty="0"/>
              <a:t>Rohit Kumar</a:t>
            </a:r>
          </a:p>
        </p:txBody>
      </p:sp>
    </p:spTree>
    <p:extLst>
      <p:ext uri="{BB962C8B-B14F-4D97-AF65-F5344CB8AC3E}">
        <p14:creationId xmlns:p14="http://schemas.microsoft.com/office/powerpoint/2010/main" val="1666862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D4E19-937F-5BDE-CD4A-A93562CA6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92624"/>
          </a:xfrm>
        </p:spPr>
        <p:txBody>
          <a:bodyPr/>
          <a:lstStyle/>
          <a:p>
            <a:r>
              <a:rPr lang="en-US" b="1" dirty="0"/>
              <a:t>C Tokens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8633F-BABB-F46E-8115-FE9760460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51" y="1600634"/>
            <a:ext cx="10331604" cy="4195481"/>
          </a:xfrm>
        </p:spPr>
        <p:txBody>
          <a:bodyPr/>
          <a:lstStyle/>
          <a:p>
            <a:r>
              <a:rPr lang="en-US" sz="2500" dirty="0"/>
              <a:t>A token is the smallest individual unit of a C program that the compiler recognizes. The C compiler breaks the source code down into tokens before further processing (parsing, compilation). C has six main types of tokens.</a:t>
            </a:r>
          </a:p>
          <a:p>
            <a:endParaRPr lang="en-US" dirty="0"/>
          </a:p>
          <a:p>
            <a:r>
              <a:rPr lang="en-US" dirty="0"/>
              <a:t>int        age          =              20             ;</a:t>
            </a:r>
          </a:p>
          <a:p>
            <a:pPr marL="0" indent="0">
              <a:buNone/>
            </a:pPr>
            <a:r>
              <a:rPr lang="en-US" dirty="0"/>
              <a:t>     ↓             ↓              ↓              ↓              ↓</a:t>
            </a:r>
          </a:p>
          <a:p>
            <a:pPr marL="0" indent="0">
              <a:buNone/>
            </a:pPr>
            <a:r>
              <a:rPr lang="en-US" dirty="0"/>
              <a:t> Keyword Identifier Operator Constant Symbol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713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87DB-927D-0A2D-AE66-8201059A8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C Tokens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3B266-B971-E050-D8B0-B6C2ACC30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777615"/>
            <a:ext cx="8946541" cy="4195481"/>
          </a:xfrm>
        </p:spPr>
        <p:txBody>
          <a:bodyPr/>
          <a:lstStyle/>
          <a:p>
            <a:r>
              <a:rPr lang="en-US" sz="2500" dirty="0"/>
              <a:t>Keywords            int, return, for</a:t>
            </a:r>
          </a:p>
          <a:p>
            <a:r>
              <a:rPr lang="en-US" sz="2500" dirty="0"/>
              <a:t>Identifiers         total, age</a:t>
            </a:r>
          </a:p>
          <a:p>
            <a:r>
              <a:rPr lang="en-US" sz="2500" dirty="0"/>
              <a:t>Constants           10, 3.14, 'a'</a:t>
            </a:r>
          </a:p>
          <a:p>
            <a:r>
              <a:rPr lang="en-US" sz="2500" dirty="0"/>
              <a:t>String Literals     "Hello", "Total: %d", "123"</a:t>
            </a:r>
          </a:p>
          <a:p>
            <a:r>
              <a:rPr lang="en-US" sz="2500" dirty="0"/>
              <a:t>Operators           +, -, ==</a:t>
            </a:r>
          </a:p>
          <a:p>
            <a:r>
              <a:rPr lang="en-US" sz="2500" dirty="0"/>
              <a:t>Special Symbols     { }, ;, ,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785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D36A2-7300-B9AA-5127-7A75E6D85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Keywords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6DDE-261D-BFCE-C69A-DAE7B04A5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51" y="1679292"/>
            <a:ext cx="10154623" cy="4195481"/>
          </a:xfrm>
        </p:spPr>
        <p:txBody>
          <a:bodyPr/>
          <a:lstStyle/>
          <a:p>
            <a:r>
              <a:rPr lang="en-US" sz="2500" dirty="0"/>
              <a:t>Reserved words that have a predefined meaning in C. They cannot be used as identifiers (variable/function names).</a:t>
            </a:r>
          </a:p>
          <a:p>
            <a:endParaRPr lang="en-US" dirty="0"/>
          </a:p>
          <a:p>
            <a:r>
              <a:rPr lang="en-US" sz="2500" b="1" dirty="0"/>
              <a:t>Examples:  </a:t>
            </a:r>
            <a:r>
              <a:rPr lang="en-US" sz="2500" dirty="0"/>
              <a:t>int, return, for, if, else, while, void, char, float, break, continue, switch, case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741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90E9B-C500-E955-E065-84CBDA2DE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Identifiers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E7BB3-E00F-DA52-1F2F-C29824523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410262" cy="4195481"/>
          </a:xfrm>
        </p:spPr>
        <p:txBody>
          <a:bodyPr/>
          <a:lstStyle/>
          <a:p>
            <a:pPr lvl="0"/>
            <a:r>
              <a:rPr lang="en-US" sz="2500" b="1" dirty="0"/>
              <a:t>First Character:</a:t>
            </a:r>
            <a:r>
              <a:rPr lang="en-US" sz="2500" dirty="0"/>
              <a:t> Must be a </a:t>
            </a:r>
            <a:r>
              <a:rPr lang="en-US" sz="2500" b="1" dirty="0"/>
              <a:t>letter</a:t>
            </a:r>
            <a:r>
              <a:rPr lang="en-US" sz="2500" dirty="0"/>
              <a:t> (a-z, A-Z) or an </a:t>
            </a:r>
            <a:r>
              <a:rPr lang="en-US" sz="2500" b="1" dirty="0"/>
              <a:t>underscore</a:t>
            </a:r>
            <a:r>
              <a:rPr lang="en-US" sz="2500" dirty="0"/>
              <a:t> (_). It </a:t>
            </a:r>
            <a:r>
              <a:rPr lang="en-US" sz="2500" b="1" dirty="0"/>
              <a:t>cannot</a:t>
            </a:r>
            <a:r>
              <a:rPr lang="en-US" sz="2500" dirty="0"/>
              <a:t> start with a digit (0-9).</a:t>
            </a:r>
          </a:p>
          <a:p>
            <a:pPr lvl="0"/>
            <a:r>
              <a:rPr lang="en-US" sz="2500" b="1" dirty="0"/>
              <a:t>Allowed Characters:</a:t>
            </a:r>
            <a:r>
              <a:rPr lang="en-US" sz="2500" dirty="0"/>
              <a:t> Letters, digits, and underscores. </a:t>
            </a:r>
            <a:r>
              <a:rPr lang="en-US" sz="2500" b="1" dirty="0"/>
              <a:t>No spaces</a:t>
            </a:r>
            <a:r>
              <a:rPr lang="en-US" sz="2500" dirty="0"/>
              <a:t>, no hyphens (-), and no special symbols (@, $, %, etc.).</a:t>
            </a:r>
          </a:p>
          <a:p>
            <a:pPr lvl="0"/>
            <a:r>
              <a:rPr lang="en-US" sz="2500" b="1" dirty="0"/>
              <a:t>Case Sensitivity:</a:t>
            </a:r>
            <a:r>
              <a:rPr lang="en-US" sz="2500" dirty="0"/>
              <a:t> C is case-sensitive. age, Age, and AGE are </a:t>
            </a:r>
            <a:r>
              <a:rPr lang="en-US" sz="2500" b="1" dirty="0"/>
              <a:t>three completely different</a:t>
            </a:r>
            <a:r>
              <a:rPr lang="en-US" sz="2500" dirty="0"/>
              <a:t> variables living in different memory locations.</a:t>
            </a:r>
          </a:p>
          <a:p>
            <a:pPr lvl="0"/>
            <a:r>
              <a:rPr lang="en-US" sz="2500" b="1" dirty="0"/>
              <a:t>No Keywords:</a:t>
            </a:r>
            <a:r>
              <a:rPr lang="en-US" sz="2500" dirty="0"/>
              <a:t> You cannot name a variable int, float, if, or return. These words already belong to the C language.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220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2E47B-E842-5144-4819-21F2ECD20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37188"/>
            <a:ext cx="10508585" cy="4911212"/>
          </a:xfrm>
        </p:spPr>
        <p:txBody>
          <a:bodyPr/>
          <a:lstStyle/>
          <a:p>
            <a:pPr lvl="0"/>
            <a:r>
              <a:rPr lang="en-US" sz="3000" dirty="0" err="1"/>
              <a:t>total_marks</a:t>
            </a:r>
            <a:r>
              <a:rPr lang="en-US" sz="3000" dirty="0"/>
              <a:t> ➡️ </a:t>
            </a:r>
            <a:r>
              <a:rPr lang="en-US" sz="3000" b="1" dirty="0"/>
              <a:t>Valid</a:t>
            </a:r>
            <a:r>
              <a:rPr lang="en-US" sz="3000" dirty="0"/>
              <a:t> (Uses underscore perfectly).</a:t>
            </a:r>
          </a:p>
          <a:p>
            <a:pPr lvl="0"/>
            <a:r>
              <a:rPr lang="en-US" sz="3000" dirty="0"/>
              <a:t>2nd_place ➡️ </a:t>
            </a:r>
            <a:r>
              <a:rPr lang="en-US" sz="3000" b="1" dirty="0"/>
              <a:t>Invalid</a:t>
            </a:r>
            <a:r>
              <a:rPr lang="en-US" sz="3000" dirty="0"/>
              <a:t> (Starts with a number).</a:t>
            </a:r>
          </a:p>
          <a:p>
            <a:pPr lvl="0"/>
            <a:r>
              <a:rPr lang="en-US" sz="3000" dirty="0"/>
              <a:t>student name ➡️ </a:t>
            </a:r>
            <a:r>
              <a:rPr lang="en-US" sz="3000" b="1" dirty="0"/>
              <a:t>Invalid</a:t>
            </a:r>
            <a:r>
              <a:rPr lang="en-US" sz="3000" dirty="0"/>
              <a:t> (Contains a space).</a:t>
            </a:r>
          </a:p>
          <a:p>
            <a:pPr lvl="0"/>
            <a:r>
              <a:rPr lang="en-US" sz="3000" dirty="0"/>
              <a:t>_temp ➡️ </a:t>
            </a:r>
            <a:r>
              <a:rPr lang="en-US" sz="3000" b="1" dirty="0"/>
              <a:t>Valid</a:t>
            </a:r>
            <a:r>
              <a:rPr lang="en-US" sz="3000" dirty="0"/>
              <a:t> (Starts with an underscore).</a:t>
            </a:r>
          </a:p>
          <a:p>
            <a:pPr lvl="0"/>
            <a:r>
              <a:rPr lang="en-US" sz="3000" dirty="0"/>
              <a:t>price$ ➡️ </a:t>
            </a:r>
            <a:r>
              <a:rPr lang="en-US" sz="3000" b="1" dirty="0"/>
              <a:t>Invalid</a:t>
            </a:r>
            <a:r>
              <a:rPr lang="en-US" sz="3000" dirty="0"/>
              <a:t> (Contains the $ symbol).</a:t>
            </a:r>
          </a:p>
          <a:p>
            <a:pPr lvl="0"/>
            <a:r>
              <a:rPr lang="en-US" sz="3000" dirty="0"/>
              <a:t>double ➡️ </a:t>
            </a:r>
            <a:r>
              <a:rPr lang="en-US" sz="3000" b="1" dirty="0"/>
              <a:t>Invalid</a:t>
            </a:r>
            <a:r>
              <a:rPr lang="en-US" sz="3000" dirty="0"/>
              <a:t> (It is a reserved keyword).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768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B97B-021A-9133-8C09-E1B4FCAB1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CD282-AD07-7BDA-4A8A-63476E249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679292"/>
            <a:ext cx="11437734" cy="4195481"/>
          </a:xfrm>
        </p:spPr>
        <p:txBody>
          <a:bodyPr/>
          <a:lstStyle/>
          <a:p>
            <a:r>
              <a:rPr lang="en-US" sz="2500" dirty="0"/>
              <a:t>Fixed values that do not change during program execution.</a:t>
            </a:r>
          </a:p>
          <a:p>
            <a:endParaRPr lang="en-US" sz="2500" dirty="0"/>
          </a:p>
          <a:p>
            <a:pPr lvl="0"/>
            <a:r>
              <a:rPr lang="en-US" sz="2500" b="1" dirty="0"/>
              <a:t>Integer Constants:</a:t>
            </a:r>
            <a:r>
              <a:rPr lang="en-US" sz="2500" dirty="0"/>
              <a:t> Whole numbers without decimals (e.g., 10, -25, 0).</a:t>
            </a:r>
          </a:p>
          <a:p>
            <a:pPr lvl="0"/>
            <a:r>
              <a:rPr lang="en-US" sz="2500" b="1" dirty="0"/>
              <a:t>Floating-point Constants:</a:t>
            </a:r>
            <a:r>
              <a:rPr lang="en-US" sz="2500" dirty="0"/>
              <a:t> Numbers with decimal points (e.g., 3.14, -0.001).</a:t>
            </a:r>
          </a:p>
          <a:p>
            <a:pPr lvl="0"/>
            <a:r>
              <a:rPr lang="en-US" sz="2500" b="1" dirty="0"/>
              <a:t>Character Constants:</a:t>
            </a:r>
            <a:r>
              <a:rPr lang="en-US" sz="2500" dirty="0"/>
              <a:t> A </a:t>
            </a:r>
            <a:r>
              <a:rPr lang="en-US" sz="2500" i="1" dirty="0"/>
              <a:t>single</a:t>
            </a:r>
            <a:r>
              <a:rPr lang="en-US" sz="2500" dirty="0"/>
              <a:t> character enclosed in </a:t>
            </a:r>
            <a:r>
              <a:rPr lang="en-US" sz="2500" b="1" dirty="0"/>
              <a:t>single quotes</a:t>
            </a:r>
            <a:r>
              <a:rPr lang="en-US" sz="2500" dirty="0"/>
              <a:t> (e.g., 'a', 'Z', '5').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74574-7D29-49BC-EA3D-0AC2F71EB207}"/>
              </a:ext>
            </a:extLst>
          </p:cNvPr>
          <p:cNvSpPr txBox="1"/>
          <p:nvPr/>
        </p:nvSpPr>
        <p:spPr>
          <a:xfrm>
            <a:off x="13037574" y="23597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175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D21CD-C575-C54B-F8F4-ED86C5AC9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String Literals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37874-32FD-6837-035C-D2297E42B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519" y="1954595"/>
            <a:ext cx="10744558" cy="4195481"/>
          </a:xfrm>
        </p:spPr>
        <p:txBody>
          <a:bodyPr/>
          <a:lstStyle/>
          <a:p>
            <a:r>
              <a:rPr lang="en-US" sz="2500" dirty="0"/>
              <a:t>Any sequence of characters enclosed in double quotes (" "). Even a sequence of digits in quotes is treated as a string, not a number.</a:t>
            </a:r>
          </a:p>
          <a:p>
            <a:endParaRPr lang="en-US" sz="2500" dirty="0"/>
          </a:p>
          <a:p>
            <a:r>
              <a:rPr lang="en-US" sz="2500" b="1" dirty="0"/>
              <a:t>Examples: </a:t>
            </a:r>
            <a:r>
              <a:rPr lang="en-US" sz="2500" dirty="0"/>
              <a:t> "Hello", "Total: %d", "123"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842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8A325-1F7C-D68E-69CE-781B081B2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BE997-E85A-A51D-2E17-3CF2164FB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626572" cy="4195481"/>
          </a:xfrm>
        </p:spPr>
        <p:txBody>
          <a:bodyPr>
            <a:normAutofit/>
          </a:bodyPr>
          <a:lstStyle/>
          <a:p>
            <a:r>
              <a:rPr lang="en-US" sz="2500" dirty="0"/>
              <a:t>An </a:t>
            </a:r>
            <a:r>
              <a:rPr lang="en-US" sz="2500" b="1" dirty="0"/>
              <a:t>operator</a:t>
            </a:r>
            <a:r>
              <a:rPr lang="en-US" sz="2500" dirty="0"/>
              <a:t> is a symbol that tells the compiler to perform a specific mathematical, logical, or relational action.</a:t>
            </a:r>
          </a:p>
          <a:p>
            <a:endParaRPr lang="en-US" sz="2500" dirty="0"/>
          </a:p>
          <a:p>
            <a:r>
              <a:rPr lang="en-US" sz="2500" dirty="0"/>
              <a:t>Type                  Examples</a:t>
            </a:r>
          </a:p>
          <a:p>
            <a:r>
              <a:rPr lang="en-US" sz="2500" dirty="0"/>
              <a:t>Arithmetic          +, -, *, /, %</a:t>
            </a:r>
          </a:p>
          <a:p>
            <a:r>
              <a:rPr lang="en-US" sz="2500" dirty="0"/>
              <a:t>Relational          ==, !=, &lt;, &gt;</a:t>
            </a:r>
          </a:p>
          <a:p>
            <a:r>
              <a:rPr lang="en-US" sz="2500" dirty="0"/>
              <a:t>Logical             &amp;&amp;, ||, !</a:t>
            </a:r>
          </a:p>
          <a:p>
            <a:r>
              <a:rPr lang="en-US" sz="2500" dirty="0"/>
              <a:t>Assignment          =, +=, -=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07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6B04F-A3DE-66B6-2CAD-7CBC17448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Special Symbols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97209-02A2-564E-946F-ECF2065A7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853248"/>
            <a:ext cx="9492231" cy="4195481"/>
          </a:xfrm>
        </p:spPr>
        <p:txBody>
          <a:bodyPr/>
          <a:lstStyle/>
          <a:p>
            <a:r>
              <a:rPr lang="en-US" sz="2500" dirty="0"/>
              <a:t>Symbol         Purpose</a:t>
            </a:r>
          </a:p>
          <a:p>
            <a:r>
              <a:rPr lang="en-US" sz="2500" dirty="0"/>
              <a:t>{ }                 Block delimiters (function/loop body)</a:t>
            </a:r>
          </a:p>
          <a:p>
            <a:r>
              <a:rPr lang="en-US" sz="2500" dirty="0"/>
              <a:t>;                   Statement terminator</a:t>
            </a:r>
          </a:p>
          <a:p>
            <a:r>
              <a:rPr lang="en-US" sz="2500" dirty="0"/>
              <a:t>,                   Separator (in declarations, function </a:t>
            </a:r>
            <a:r>
              <a:rPr lang="en-US" sz="2500" dirty="0" err="1"/>
              <a:t>args</a:t>
            </a:r>
            <a:r>
              <a:rPr lang="en-US" sz="2500" dirty="0"/>
              <a:t>)</a:t>
            </a:r>
          </a:p>
          <a:p>
            <a:r>
              <a:rPr lang="en-US" sz="2500" dirty="0"/>
              <a:t>( )                Function calls, expressions</a:t>
            </a:r>
          </a:p>
          <a:p>
            <a:r>
              <a:rPr lang="en-US" sz="2500" dirty="0"/>
              <a:t>[ ]                Array indexing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177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09098-4769-4958-C43D-3B766CBD9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Types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A6286-0722-01A1-6C2B-F7E0C307A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679292"/>
            <a:ext cx="8946541" cy="4195481"/>
          </a:xfrm>
        </p:spPr>
        <p:txBody>
          <a:bodyPr/>
          <a:lstStyle/>
          <a:p>
            <a:r>
              <a:rPr lang="en-US" sz="2500" dirty="0"/>
              <a:t>In C programming, a data type tells the computer what kind of data we want to store in a variable.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44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80FD7-03D9-BC72-D830-98B1437E1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Primary (Basic)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6587C-1EE0-A523-77A9-8F5033F2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50" y="1698957"/>
            <a:ext cx="10931373" cy="495748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Primary or Basic Data Types are the </a:t>
            </a:r>
            <a:r>
              <a:rPr lang="en-US" b="1" dirty="0"/>
              <a:t>fundamental built-in data types provided by the C language</a:t>
            </a:r>
            <a:r>
              <a:rPr lang="en-US" dirty="0"/>
              <a:t>. They are used to store basic kinds of values such as whole numbers, characters, and decimal numbers.</a:t>
            </a:r>
          </a:p>
          <a:p>
            <a:pPr lvl="0"/>
            <a:r>
              <a:rPr lang="en-US" dirty="0"/>
              <a:t>int — stores whole numbers </a:t>
            </a:r>
          </a:p>
          <a:p>
            <a:pPr lvl="0"/>
            <a:r>
              <a:rPr lang="en-US" dirty="0"/>
              <a:t>char — stores a single character </a:t>
            </a:r>
          </a:p>
          <a:p>
            <a:pPr lvl="0"/>
            <a:r>
              <a:rPr lang="en-US" dirty="0"/>
              <a:t>float — stores decimal numbers </a:t>
            </a:r>
          </a:p>
          <a:p>
            <a:pPr lvl="0"/>
            <a:r>
              <a:rPr lang="en-US" dirty="0"/>
              <a:t>double — stores decimal numbers with generally higher precision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Example:</a:t>
            </a:r>
          </a:p>
          <a:p>
            <a:pPr lvl="0"/>
            <a:r>
              <a:rPr lang="en-US" dirty="0"/>
              <a:t>int age = 20;</a:t>
            </a:r>
          </a:p>
          <a:p>
            <a:pPr lvl="0"/>
            <a:r>
              <a:rPr lang="en-US" dirty="0"/>
              <a:t>char grade = 'A';</a:t>
            </a:r>
          </a:p>
          <a:p>
            <a:pPr lvl="0"/>
            <a:r>
              <a:rPr lang="en-US" dirty="0"/>
              <a:t>float percentage = 85.5f;</a:t>
            </a:r>
          </a:p>
          <a:p>
            <a:pPr lvl="0"/>
            <a:r>
              <a:rPr lang="en-US" dirty="0"/>
              <a:t>double pi = 3.1415926535;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676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19BA10-8104-E632-B596-F818186A40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" y="1278193"/>
            <a:ext cx="10972800" cy="521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849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A9020-1D57-AE58-3477-0E4890F33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Type Modifiers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2706A-1D38-6FAE-4024-E38E40C4F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016" y="1853248"/>
            <a:ext cx="10459423" cy="4195481"/>
          </a:xfrm>
        </p:spPr>
        <p:txBody>
          <a:bodyPr/>
          <a:lstStyle/>
          <a:p>
            <a:r>
              <a:rPr lang="en-US" b="1" dirty="0"/>
              <a:t>Type modifiers</a:t>
            </a:r>
            <a:r>
              <a:rPr lang="en-US" dirty="0"/>
              <a:t> are keywords used with certain basic data types to modify their </a:t>
            </a:r>
            <a:r>
              <a:rPr lang="en-US" b="1" dirty="0"/>
              <a:t>range, sign, or representation characteristics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four common type modifiers are:</a:t>
            </a:r>
          </a:p>
          <a:p>
            <a:r>
              <a:rPr lang="en-US" dirty="0"/>
              <a:t>short     === 2 bytes</a:t>
            </a:r>
          </a:p>
          <a:p>
            <a:r>
              <a:rPr lang="en-US" dirty="0"/>
              <a:t>long      ==== 8 bytes   (long int → 4 or 8 bytes, depending on the system)</a:t>
            </a:r>
          </a:p>
          <a:p>
            <a:pPr lvl="0"/>
            <a:r>
              <a:rPr lang="en-US" dirty="0"/>
              <a:t>signed </a:t>
            </a:r>
          </a:p>
          <a:p>
            <a:pPr lvl="0"/>
            <a:r>
              <a:rPr lang="en-US" dirty="0"/>
              <a:t>unsigned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793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F6AA7-053D-85C5-6E60-E4A8C9F15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Size-Related Modifiers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E37D3-82C7-804E-87D3-AFF20E483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1" y="1474840"/>
            <a:ext cx="10357165" cy="4773560"/>
          </a:xfrm>
        </p:spPr>
        <p:txBody>
          <a:bodyPr/>
          <a:lstStyle/>
          <a:p>
            <a:r>
              <a:rPr lang="en-US" b="1" dirty="0"/>
              <a:t>short</a:t>
            </a:r>
          </a:p>
          <a:p>
            <a:r>
              <a:rPr lang="en-US" dirty="0"/>
              <a:t>short is commonly used when a smaller integer range is sufficient.</a:t>
            </a:r>
          </a:p>
          <a:p>
            <a:r>
              <a:rPr lang="en-US" dirty="0"/>
              <a:t>short int age = 25;</a:t>
            </a:r>
          </a:p>
          <a:p>
            <a:r>
              <a:rPr lang="en-US" b="1" dirty="0"/>
              <a:t>long</a:t>
            </a:r>
          </a:p>
          <a:p>
            <a:r>
              <a:rPr lang="en-US" dirty="0"/>
              <a:t>long is commonly used when a larger integer range is needed.</a:t>
            </a:r>
          </a:p>
          <a:p>
            <a:r>
              <a:rPr lang="en-US" dirty="0"/>
              <a:t>long int population = 5000000;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061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9B810-A6CD-E0E4-B901-B91EF2B84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Sign Modifiers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20D45-976F-027A-E91D-E674CA541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1592826"/>
            <a:ext cx="11034611" cy="50341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signed</a:t>
            </a:r>
          </a:p>
          <a:p>
            <a:r>
              <a:rPr lang="en-US" dirty="0"/>
              <a:t>A signed integer can store both:</a:t>
            </a:r>
          </a:p>
          <a:p>
            <a:pPr lvl="0"/>
            <a:r>
              <a:rPr lang="en-US" dirty="0"/>
              <a:t>Positive values </a:t>
            </a:r>
          </a:p>
          <a:p>
            <a:pPr lvl="0"/>
            <a:r>
              <a:rPr lang="en-US" dirty="0"/>
              <a:t>Negative values </a:t>
            </a:r>
          </a:p>
          <a:p>
            <a:pPr lvl="0"/>
            <a:r>
              <a:rPr lang="en-US" dirty="0"/>
              <a:t>Zero </a:t>
            </a:r>
          </a:p>
          <a:p>
            <a:r>
              <a:rPr lang="en-US" dirty="0"/>
              <a:t>signed int temperature = -10;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unsigned</a:t>
            </a:r>
          </a:p>
          <a:p>
            <a:r>
              <a:rPr lang="en-US" dirty="0"/>
              <a:t>An unsigned integer cannot store negative values. It stores:</a:t>
            </a:r>
          </a:p>
          <a:p>
            <a:pPr lvl="0"/>
            <a:r>
              <a:rPr lang="en-US" dirty="0"/>
              <a:t>0 </a:t>
            </a:r>
          </a:p>
          <a:p>
            <a:pPr lvl="0"/>
            <a:r>
              <a:rPr lang="en-US" dirty="0"/>
              <a:t>Positive values </a:t>
            </a:r>
          </a:p>
          <a:p>
            <a:r>
              <a:rPr lang="en-US" dirty="0"/>
              <a:t>unsigned int </a:t>
            </a:r>
            <a:r>
              <a:rPr lang="en-US" dirty="0" err="1"/>
              <a:t>account_balance</a:t>
            </a:r>
            <a:r>
              <a:rPr lang="en-US" dirty="0"/>
              <a:t> = 50000;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088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405BB-A3A2-3B1B-0C3B-1D06C0A9C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Derived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47BBD-C5BD-3189-8BE8-6613DFDEC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518417" cy="4195481"/>
          </a:xfrm>
        </p:spPr>
        <p:txBody>
          <a:bodyPr/>
          <a:lstStyle/>
          <a:p>
            <a:pPr lvl="0"/>
            <a:r>
              <a:rPr lang="en-US" sz="2500" b="1" dirty="0"/>
              <a:t>Arrays:</a:t>
            </a:r>
            <a:r>
              <a:rPr lang="en-US" sz="2500" dirty="0"/>
              <a:t> A collection of multiple data elements of the </a:t>
            </a:r>
            <a:r>
              <a:rPr lang="en-US" sz="2500" i="1" dirty="0"/>
              <a:t>same data type</a:t>
            </a:r>
            <a:r>
              <a:rPr lang="en-US" sz="2500" dirty="0"/>
              <a:t> stored sequentially in memory (e.g., int scores[5];).</a:t>
            </a:r>
          </a:p>
          <a:p>
            <a:pPr lvl="0"/>
            <a:r>
              <a:rPr lang="en-US" sz="2500" b="1" dirty="0"/>
              <a:t>Pointers:</a:t>
            </a:r>
            <a:r>
              <a:rPr lang="en-US" sz="2500" dirty="0"/>
              <a:t> Specialized variables designed to store the </a:t>
            </a:r>
            <a:r>
              <a:rPr lang="en-US" sz="2500" i="1" dirty="0"/>
              <a:t>hardware memory address</a:t>
            </a:r>
            <a:r>
              <a:rPr lang="en-US" sz="2500" dirty="0"/>
              <a:t> of another variable rather than a literal value (e.g., int *</a:t>
            </a:r>
            <a:r>
              <a:rPr lang="en-US" sz="2500" dirty="0" err="1"/>
              <a:t>ptr</a:t>
            </a:r>
            <a:r>
              <a:rPr lang="en-US" sz="2500" dirty="0"/>
              <a:t>;).</a:t>
            </a:r>
          </a:p>
          <a:p>
            <a:pPr lvl="0"/>
            <a:r>
              <a:rPr lang="en-US" sz="2500" b="1" dirty="0"/>
              <a:t>Functions:</a:t>
            </a:r>
            <a:r>
              <a:rPr lang="en-US" sz="2500" dirty="0"/>
              <a:t> Executable blocks of code that wrap logic and optionally accept parameters or yield structured returns.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385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E2AE0-531E-6A5E-C920-D894E1B5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User-Defined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2ABBC-060D-8993-C79A-A765CA412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76" y="1853248"/>
            <a:ext cx="10734727" cy="4195481"/>
          </a:xfrm>
        </p:spPr>
        <p:txBody>
          <a:bodyPr/>
          <a:lstStyle/>
          <a:p>
            <a:pPr lvl="0"/>
            <a:r>
              <a:rPr lang="en-US" b="1" dirty="0"/>
              <a:t>struct (Structure):</a:t>
            </a:r>
            <a:r>
              <a:rPr lang="en-US" dirty="0"/>
              <a:t> A package that groups variables of </a:t>
            </a:r>
            <a:r>
              <a:rPr lang="en-US" i="1" dirty="0"/>
              <a:t>different data types</a:t>
            </a:r>
            <a:r>
              <a:rPr lang="en-US" dirty="0"/>
              <a:t> under a singular name (e.g., packing an int id and a float salary together).</a:t>
            </a:r>
          </a:p>
          <a:p>
            <a:pPr lvl="0"/>
            <a:r>
              <a:rPr lang="en-US" b="1" dirty="0"/>
              <a:t>union:</a:t>
            </a:r>
            <a:r>
              <a:rPr lang="en-US" dirty="0"/>
              <a:t> Similar to a structure, but all internal member variables share the exact same physical memory block, conserving system space.</a:t>
            </a:r>
          </a:p>
          <a:p>
            <a:pPr lvl="0"/>
            <a:r>
              <a:rPr lang="en-US" b="1" dirty="0" err="1"/>
              <a:t>enum</a:t>
            </a:r>
            <a:r>
              <a:rPr lang="en-US" b="1" dirty="0"/>
              <a:t> (Enumeration):</a:t>
            </a:r>
            <a:r>
              <a:rPr lang="en-US" dirty="0"/>
              <a:t> A custom user-defined type used to assign highly readable word-based names to integer constants (e.g., mapping 0, 1, 2 to RED, GREEN, BLUE).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308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3E1FB-AB78-9EA1-2112-C63588F76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Void (The Empty Type)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1F945-F8F4-A28D-144A-754031CA9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853248"/>
            <a:ext cx="10208702" cy="4195481"/>
          </a:xfrm>
        </p:spPr>
        <p:txBody>
          <a:bodyPr/>
          <a:lstStyle/>
          <a:p>
            <a:r>
              <a:rPr lang="en-US" dirty="0"/>
              <a:t>void means no value.</a:t>
            </a:r>
          </a:p>
          <a:p>
            <a:r>
              <a:rPr lang="en-US" dirty="0"/>
              <a:t>It is commonly used when a function does not return a value.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void display()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    </a:t>
            </a:r>
            <a:r>
              <a:rPr lang="en-US" dirty="0" err="1"/>
              <a:t>printf</a:t>
            </a:r>
            <a:r>
              <a:rPr lang="en-US" dirty="0"/>
              <a:t>("Hello");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430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9409972-0A1C-2FD0-9187-2F1D226EDE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0441" y="2052638"/>
            <a:ext cx="6293643" cy="41957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5B2A9F-57D6-08E3-6D6A-524DE9C9E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61" y="322006"/>
            <a:ext cx="11257935" cy="621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393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395</TotalTime>
  <Words>1001</Words>
  <Application>Microsoft Office PowerPoint</Application>
  <PresentationFormat>Widescreen</PresentationFormat>
  <Paragraphs>115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Calibri</vt:lpstr>
      <vt:lpstr>Century Gothic</vt:lpstr>
      <vt:lpstr>Wingdings 3</vt:lpstr>
      <vt:lpstr>Ion</vt:lpstr>
      <vt:lpstr>C Programming </vt:lpstr>
      <vt:lpstr>C Tokens </vt:lpstr>
      <vt:lpstr>Types of C Tokens </vt:lpstr>
      <vt:lpstr>1. Keywords </vt:lpstr>
      <vt:lpstr>2. Identifiers </vt:lpstr>
      <vt:lpstr>PowerPoint Presentation</vt:lpstr>
      <vt:lpstr>3. Constants</vt:lpstr>
      <vt:lpstr>String Literals </vt:lpstr>
      <vt:lpstr>operator</vt:lpstr>
      <vt:lpstr>Special Symbols </vt:lpstr>
      <vt:lpstr>Data Types </vt:lpstr>
      <vt:lpstr>1. Primary (Basic) Data Types</vt:lpstr>
      <vt:lpstr>PowerPoint Presentation</vt:lpstr>
      <vt:lpstr>2. Type Modifiers</vt:lpstr>
      <vt:lpstr>1. Size-Related Modifiers</vt:lpstr>
      <vt:lpstr>2. Sign Modifiers</vt:lpstr>
      <vt:lpstr>3. Derived Data Types</vt:lpstr>
      <vt:lpstr>4. User-Defined Data Types</vt:lpstr>
      <vt:lpstr>5. Void (The Empty Type)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Kumar</dc:creator>
  <cp:lastModifiedBy>Rohit Kumar</cp:lastModifiedBy>
  <cp:revision>4</cp:revision>
  <dcterms:created xsi:type="dcterms:W3CDTF">2026-08-25T16:42:59Z</dcterms:created>
  <dcterms:modified xsi:type="dcterms:W3CDTF">2026-08-31T17:43:37Z</dcterms:modified>
</cp:coreProperties>
</file>